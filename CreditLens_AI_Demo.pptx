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320040"/>
            <a:ext cx="292608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THIN FILE ANALYSIS MODE 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CreditLens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834640"/>
            <a:ext cx="3200400" cy="635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BF7D0"/>
                </a:solidFill>
                <a:latin typeface="Calibri"/>
              </a:rPr>
              <a:t>Credit Intelligence for the Thin File Economy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A6B"/>
                </a:solidFill>
                <a:latin typeface="Calibri"/>
              </a:rPr>
              <a:t>AI-powered risk scoring without bureau dependency  ·  35+ live workflows  ·  Butterfly effect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29200"/>
            <a:ext cx="2651760" cy="1417320"/>
          </a:xfrm>
          <a:prstGeom prst="rect">
            <a:avLst/>
          </a:prstGeom>
          <a:solidFill>
            <a:srgbClr val="1A2E1A"/>
          </a:solidFill>
          <a:ln w="9525">
            <a:solidFill>
              <a:srgbClr val="224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13892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A34A"/>
                </a:solidFill>
                <a:latin typeface="Calibri"/>
              </a:rPr>
              <a:t>₹2.4T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623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MSME Credit Gap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39" y="5029200"/>
            <a:ext cx="2651760" cy="1417320"/>
          </a:xfrm>
          <a:prstGeom prst="rect">
            <a:avLst/>
          </a:prstGeom>
          <a:solidFill>
            <a:srgbClr val="1A2E1A"/>
          </a:solidFill>
          <a:ln w="9525">
            <a:solidFill>
              <a:srgbClr val="224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1" y="513892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A34A"/>
                </a:solidFill>
                <a:latin typeface="Calibri"/>
              </a:rP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1" y="5623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Borrowers w/o bureau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5029200"/>
            <a:ext cx="2651760" cy="1417320"/>
          </a:xfrm>
          <a:prstGeom prst="rect">
            <a:avLst/>
          </a:prstGeom>
          <a:solidFill>
            <a:srgbClr val="1A2E1A"/>
          </a:solidFill>
          <a:ln w="9525">
            <a:solidFill>
              <a:srgbClr val="224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513892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A34A"/>
                </a:solidFill>
                <a:latin typeface="Calibri"/>
              </a:rPr>
              <a:t>35+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5623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Risk Workflows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59" y="5029200"/>
            <a:ext cx="2651760" cy="1417320"/>
          </a:xfrm>
          <a:prstGeom prst="rect">
            <a:avLst/>
          </a:prstGeom>
          <a:solidFill>
            <a:srgbClr val="1A2E1A"/>
          </a:solidFill>
          <a:ln w="9525">
            <a:solidFill>
              <a:srgbClr val="224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45751" y="513892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A34A"/>
                </a:solidFill>
                <a:latin typeface="Calibri"/>
              </a:rPr>
              <a:t>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5751" y="5623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CIBIL Dependency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92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B4B3B"/>
                </a:solidFill>
                <a:latin typeface="Calibri"/>
              </a:rPr>
              <a:t>Hackathon Demo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B11"/>
                </a:solidFill>
                <a:latin typeface="Calibri"/>
              </a:rPr>
              <a:t>MSME lenders are flying blind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91672" cy="12700"/>
          </a:xfrm>
          <a:prstGeom prst="rect">
            <a:avLst/>
          </a:prstGeom>
          <a:solidFill>
            <a:srgbClr val="E3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B11"/>
                </a:solidFill>
                <a:latin typeface="Calibri"/>
              </a:rPr>
              <a:t>60% of MSMEs are thin-file borrowers</a:t>
            </a:r>
          </a:p>
          <a:p>
            <a:pPr algn="l"/>
            <a:r>
              <a:rPr sz="1300" b="0">
                <a:solidFill>
                  <a:srgbClr val="6B7A6B"/>
                </a:solidFill>
                <a:latin typeface="Calibri"/>
              </a:rPr>
              <a:t>They have no CIBIL history, no formal credit trail.</a:t>
            </a:r>
          </a:p>
          <a:p>
            <a:pPr algn="l"/>
            <a:r>
              <a:rPr sz="600" b="0">
                <a:solidFill>
                  <a:srgbClr val="111B11"/>
                </a:solidFill>
                <a:latin typeface="Calibri"/>
              </a:rPr>
              <a:t/>
            </a:r>
          </a:p>
          <a:p>
            <a:pPr algn="l"/>
            <a:r>
              <a:rPr sz="1500" b="1">
                <a:solidFill>
                  <a:srgbClr val="DC2626"/>
                </a:solidFill>
                <a:latin typeface="Calibri"/>
              </a:rPr>
              <a:t>Traditional credit scoring fails them.</a:t>
            </a:r>
          </a:p>
          <a:p>
            <a:pPr algn="l"/>
            <a:r>
              <a:rPr sz="1300" b="0">
                <a:solidFill>
                  <a:srgbClr val="6B7A6B"/>
                </a:solidFill>
                <a:latin typeface="Calibri"/>
              </a:rPr>
              <a:t>Lenders either reject them outright or approve blindly —
both outcomes cost money.</a:t>
            </a:r>
          </a:p>
          <a:p>
            <a:pPr algn="l"/>
            <a:r>
              <a:rPr sz="600" b="0">
                <a:solidFill>
                  <a:srgbClr val="111B11"/>
                </a:solidFill>
                <a:latin typeface="Calibri"/>
              </a:rPr>
              <a:t/>
            </a:r>
          </a:p>
          <a:p>
            <a:pPr algn="l"/>
            <a:r>
              <a:rPr sz="1500" b="1">
                <a:solidFill>
                  <a:srgbClr val="111B11"/>
                </a:solidFill>
                <a:latin typeface="Calibri"/>
              </a:rPr>
              <a:t>Channel partners act as intermediaries but carry
hidden risk that nobody is measuring.</a:t>
            </a:r>
          </a:p>
          <a:p>
            <a:pPr algn="l"/>
            <a:r>
              <a:rPr sz="1300" b="0">
                <a:solidFill>
                  <a:srgbClr val="6B7A6B"/>
                </a:solidFill>
                <a:latin typeface="Calibri"/>
              </a:rPr>
              <a:t>One partner's default can cascade across the entire
portfolio through butterfly effects.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00200"/>
            <a:ext cx="5760720" cy="109728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600200"/>
            <a:ext cx="16459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C2626"/>
                </a:solidFill>
                <a:latin typeface="Calibri"/>
              </a:rPr>
              <a:t>₹2.4T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48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B11"/>
                </a:solidFill>
                <a:latin typeface="Calibri"/>
              </a:rPr>
              <a:t>MSME Credit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0487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6B"/>
                </a:solidFill>
                <a:latin typeface="Calibri"/>
              </a:rPr>
              <a:t>Unmet formal lending demand in India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834640"/>
            <a:ext cx="5760720" cy="109728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834640"/>
            <a:ext cx="164592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9260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580C"/>
                </a:solidFill>
                <a:latin typeface="Calibri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83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B11"/>
                </a:solidFill>
                <a:latin typeface="Calibri"/>
              </a:rPr>
              <a:t>No bureau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393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6B"/>
                </a:solidFill>
                <a:latin typeface="Calibri"/>
              </a:rPr>
              <a:t>Borrowers invisible to traditional scoring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069080"/>
            <a:ext cx="5760720" cy="109728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069080"/>
            <a:ext cx="164592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160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A34A"/>
                </a:solidFill>
                <a:latin typeface="Calibri"/>
              </a:rPr>
              <a:t>3–5×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17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B11"/>
                </a:solidFill>
                <a:latin typeface="Calibri"/>
              </a:rPr>
              <a:t>Higher default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8737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6B"/>
                </a:solidFill>
                <a:latin typeface="Calibri"/>
              </a:rPr>
              <a:t>When behavioral signals are used vs bureau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5303520"/>
            <a:ext cx="5760720" cy="109728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5303520"/>
            <a:ext cx="16459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3949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563EB"/>
                </a:solidFill>
                <a:latin typeface="Calibri"/>
              </a:rPr>
              <a:t>48 hrs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852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B11"/>
                </a:solidFill>
                <a:latin typeface="Calibri"/>
              </a:rPr>
              <a:t>Avg manual review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610819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6B"/>
                </a:solidFill>
                <a:latin typeface="Calibri"/>
              </a:rPr>
              <a:t>Replaced by CreditLens in under 5 seconds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11B11"/>
                </a:solidFill>
                <a:latin typeface="Calibri"/>
              </a:rPr>
              <a:t>CreditLens AI — What we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91672" cy="12700"/>
          </a:xfrm>
          <a:prstGeom prst="rect">
            <a:avLst/>
          </a:prstGeom>
          <a:solidFill>
            <a:srgbClr val="E3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3657600" cy="214884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164592" cy="2148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562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B11"/>
                </a:solidFill>
                <a:latin typeface="Calibri"/>
              </a:rPr>
              <a:t>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B11"/>
                </a:solidFill>
                <a:latin typeface="Calibri"/>
              </a:rPr>
              <a:t>No Bureau Dependency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9192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Pure behavioral + transactional scoring.
Digitap signals, GST, repayment history.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91640"/>
            <a:ext cx="3657600" cy="214884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91640"/>
            <a:ext cx="164592" cy="2148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562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B11"/>
                </a:solidFill>
                <a:latin typeface="Calibri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860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B11"/>
                </a:solidFill>
                <a:latin typeface="Calibri"/>
              </a:rPr>
              <a:t>35+ Risk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79192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Automated rules covering repayment,
financial health, behavioral &amp; contextual risk.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691640"/>
            <a:ext cx="3657600" cy="214884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691640"/>
            <a:ext cx="164592" cy="2148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18562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B11"/>
                </a:solidFill>
                <a:latin typeface="Calibri"/>
              </a:rPr>
              <a:t>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22860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B11"/>
                </a:solidFill>
                <a:latin typeface="Calibri"/>
              </a:rPr>
              <a:t>Butterfly Effect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679192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Detects how one small event cascades
into portfolio-wide default risk.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023360"/>
            <a:ext cx="3657600" cy="214884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023360"/>
            <a:ext cx="164592" cy="2148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1879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B11"/>
                </a:solidFill>
                <a:latin typeface="Calibri"/>
              </a:rP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177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B11"/>
                </a:solidFill>
                <a:latin typeface="Calibri"/>
              </a:rPr>
              <a:t>Pattern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10912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Surfaces hidden patterns: partial payments,
cash flow stress, multi-loan overlap.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023360"/>
            <a:ext cx="3657600" cy="214884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4023360"/>
            <a:ext cx="164592" cy="2148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1879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B11"/>
                </a:solidFill>
                <a:latin typeface="Calibri"/>
              </a:rP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6177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B11"/>
                </a:solidFill>
                <a:latin typeface="Calibri"/>
              </a:rPr>
              <a:t>AI Reasoning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010912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Every score comes with plain-language
explanation of how AI reached the verdict.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4023360"/>
            <a:ext cx="3657600" cy="214884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4023360"/>
            <a:ext cx="164592" cy="2148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19" y="41879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B11"/>
                </a:solidFill>
                <a:latin typeface="Calibri"/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19" y="46177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B11"/>
                </a:solidFill>
                <a:latin typeface="Calibri"/>
              </a:rPr>
              <a:t>Live Health Checks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5010912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Run on-demand risk scoring on any loan
or channel partner in under 5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AI Scoring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2148840" cy="4206240"/>
          </a:xfrm>
          <a:prstGeom prst="rect">
            <a:avLst/>
          </a:prstGeom>
          <a:solidFill>
            <a:srgbClr val="1A2E1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14884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1874520"/>
            <a:ext cx="59436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745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D0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6060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10896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Digitap bank signals
GST revenue trends
Repayment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34747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B5B4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1554480"/>
            <a:ext cx="2148840" cy="4206240"/>
          </a:xfrm>
          <a:prstGeom prst="rect">
            <a:avLst/>
          </a:prstGeom>
          <a:solidFill>
            <a:srgbClr val="1A2E1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79" y="1554480"/>
            <a:ext cx="2148840" cy="182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19" y="1874520"/>
            <a:ext cx="59436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19" y="18745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D0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7" y="26060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Signal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7" y="310896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Transaction pattern analysis
Cash flow mapping
Anomaly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7" y="34747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B5B4B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554480"/>
            <a:ext cx="2148840" cy="4206240"/>
          </a:xfrm>
          <a:prstGeom prst="rect">
            <a:avLst/>
          </a:prstGeom>
          <a:solidFill>
            <a:srgbClr val="1A2E1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1554480"/>
            <a:ext cx="214884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06440" y="1874520"/>
            <a:ext cx="59436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18745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D0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26060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35+ Workflows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310896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Repayment workflows
Financial risk rules
Behavioral 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34747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B5B4B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19" y="1554480"/>
            <a:ext cx="2148840" cy="4206240"/>
          </a:xfrm>
          <a:prstGeom prst="rect">
            <a:avLst/>
          </a:prstGeom>
          <a:solidFill>
            <a:srgbClr val="1A2E1A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19" y="1554480"/>
            <a:ext cx="2148840" cy="182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59" y="1874520"/>
            <a:ext cx="594360" cy="594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59" y="18745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D0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647" y="26060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Butterfly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7" y="310896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Cascade effect mapping
Chain impact scoring
Aha moment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7" y="34747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B5B4B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1554480"/>
            <a:ext cx="2148840" cy="4206240"/>
          </a:xfrm>
          <a:prstGeom prst="rect">
            <a:avLst/>
          </a:prstGeom>
          <a:solidFill>
            <a:srgbClr val="1A2E1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92640" y="1554480"/>
            <a:ext cx="2148840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469880" y="1874520"/>
            <a:ext cx="59436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69880" y="18745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1D0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2368" y="26060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Score + Reasoning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8" y="310896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0–100 health score
Grade A+ to D
Plain-language AI verdict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A6B"/>
                </a:solidFill>
                <a:latin typeface="Calibri"/>
              </a:rPr>
              <a:t>⚡  End-to-end in &lt; 5 seconds  ·  No CIBIL / bureau call required  ·  Works on zero credit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Calibri"/>
              </a:rPr>
              <a:t>CORE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11B11"/>
                </a:solidFill>
                <a:latin typeface="Calibri"/>
              </a:rPr>
              <a:t>Butterfly Effect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6B"/>
                </a:solidFill>
                <a:latin typeface="Calibri"/>
              </a:rPr>
              <a:t>How one small event cascades into a portfolio-wide crisis — and how CreditLens catches it early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91672" cy="12700"/>
          </a:xfrm>
          <a:prstGeom prst="rect">
            <a:avLst/>
          </a:prstGeom>
          <a:solidFill>
            <a:srgbClr val="E3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5236" y="2103120"/>
            <a:ext cx="1737360" cy="150876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" y="2103120"/>
            <a:ext cx="1737360" cy="14630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" y="1783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A580C"/>
                </a:solidFill>
                <a:latin typeface="Calibri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" y="23317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B11"/>
                </a:solidFill>
                <a:latin typeface="Calibri"/>
              </a:rPr>
              <a:t>Partial
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8316" y="26517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7A6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85516" y="2103120"/>
            <a:ext cx="1737360" cy="150876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85516" y="2103120"/>
            <a:ext cx="1737360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5516" y="1783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5516" y="23317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B11"/>
                </a:solidFill>
                <a:latin typeface="Calibri"/>
              </a:rPr>
              <a:t>Penalty
Applied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8596" y="26517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7A6B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25796" y="2103120"/>
            <a:ext cx="1737360" cy="150876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25796" y="2103120"/>
            <a:ext cx="1737360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5796" y="1783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5796" y="23317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B11"/>
                </a:solidFill>
                <a:latin typeface="Calibri"/>
              </a:rPr>
              <a:t>EMI
Increases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8876" y="26517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7A6B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66076" y="2103120"/>
            <a:ext cx="1737360" cy="150876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66076" y="2103120"/>
            <a:ext cx="1737360" cy="1463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6076" y="1783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C2626"/>
                </a:solidFill>
                <a:latin typeface="Calibri"/>
              </a:rPr>
              <a:t>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6076" y="23317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B11"/>
                </a:solidFill>
                <a:latin typeface="Calibri"/>
              </a:rPr>
              <a:t>Next Payment
Missed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9156" y="26517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7A6B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06356" y="2103120"/>
            <a:ext cx="1737360" cy="150876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06356" y="2103120"/>
            <a:ext cx="1737360" cy="1463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06356" y="1783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C2626"/>
                </a:solidFill>
                <a:latin typeface="Calibri"/>
              </a:rPr>
              <a:t>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6356" y="23317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B11"/>
                </a:solidFill>
                <a:latin typeface="Calibri"/>
              </a:rPr>
              <a:t>Default
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A6B"/>
                </a:solidFill>
                <a:latin typeface="Calibri"/>
              </a:rPr>
              <a:t>Score Impact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solidFill>
            <a:srgbClr val="F8FAF8"/>
          </a:solidFill>
          <a:ln w="6350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206240"/>
            <a:ext cx="55778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224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-32 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2245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Total cascade score impact from a single missed partial payment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846320"/>
            <a:ext cx="11155680" cy="1554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983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Calibri"/>
              </a:rPr>
              <a:t>Why this matters for lenders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349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B11"/>
                </a:solidFill>
                <a:latin typeface="Calibri"/>
              </a:rPr>
              <a:t>Without CreditLens:</a:t>
            </a:r>
          </a:p>
          <a:p>
            <a:pPr algn="l"/>
            <a:r>
              <a:rPr sz="1100" b="0">
                <a:solidFill>
                  <a:srgbClr val="6B7A6B"/>
                </a:solidFill>
                <a:latin typeface="Calibri"/>
              </a:rPr>
              <a:t>  A partner misses one payment → lender notices 90 days later → ₹50L exposure already at risk</a:t>
            </a:r>
          </a:p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With CreditLens:</a:t>
            </a:r>
          </a:p>
          <a:p>
            <a:pPr algn="l"/>
            <a:r>
              <a:rPr sz="1100" b="0">
                <a:solidFill>
                  <a:srgbClr val="6B7A6B"/>
                </a:solidFill>
                <a:latin typeface="Calibri"/>
              </a:rPr>
              <a:t>  Pattern detected at first partial payment → cascade risk flagged instantly → lender acts in 24 hours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Calibri"/>
              </a:rPr>
              <a:t>PATTERN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11B11"/>
                </a:solidFill>
                <a:latin typeface="Calibri"/>
              </a:rPr>
              <a:t>What CreditLens Detects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6B"/>
                </a:solidFill>
                <a:latin typeface="Calibri"/>
              </a:rPr>
              <a:t>6 core risk patterns surfaced automatically from transactional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11091672" cy="12700"/>
          </a:xfrm>
          <a:prstGeom prst="rect">
            <a:avLst/>
          </a:prstGeom>
          <a:solidFill>
            <a:srgbClr val="E3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965960"/>
            <a:ext cx="3657600" cy="201168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65960"/>
            <a:ext cx="164592" cy="2011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B11"/>
                </a:solidFill>
                <a:latin typeface="Calibri"/>
              </a:rPr>
              <a:t>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517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B11"/>
                </a:solidFill>
                <a:latin typeface="Calibri"/>
              </a:rPr>
              <a:t>Frequent Partial 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63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Borrower consistently pays less than EMI due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630168"/>
            <a:ext cx="1097280" cy="2560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6B7A6B"/>
                </a:solidFill>
                <a:latin typeface="Calibri"/>
              </a:rPr>
              <a:t>Repayment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20" y="3630168"/>
            <a:ext cx="1188720" cy="256032"/>
          </a:xfrm>
          <a:prstGeom prst="rect">
            <a:avLst/>
          </a:prstGeom>
          <a:solidFill>
            <a:srgbClr val="FF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EA580C"/>
                </a:solidFill>
                <a:latin typeface="Calibri"/>
              </a:rPr>
              <a:t>MODERATE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965960"/>
            <a:ext cx="3657600" cy="201168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965960"/>
            <a:ext cx="164592" cy="2011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1488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B11"/>
                </a:solidFill>
                <a:latin typeface="Calibri"/>
              </a:rPr>
              <a:t>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6517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B11"/>
                </a:solidFill>
                <a:latin typeface="Calibri"/>
              </a:rPr>
              <a:t>Multiple Active Loans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063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Debt spread across lenders simultaneously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44568" y="3630168"/>
            <a:ext cx="1097280" cy="2560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6B7A6B"/>
                </a:solidFill>
                <a:latin typeface="Calibri"/>
              </a:rPr>
              <a:t>Behavioral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3630168"/>
            <a:ext cx="1188720" cy="256032"/>
          </a:xfrm>
          <a:prstGeom prst="rect">
            <a:avLst/>
          </a:prstGeom>
          <a:solidFill>
            <a:srgbClr val="FF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EA580C"/>
                </a:solidFill>
                <a:latin typeface="Calibri"/>
              </a:rPr>
              <a:t>MODERATE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965960"/>
            <a:ext cx="3657600" cy="201168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965960"/>
            <a:ext cx="164592" cy="2011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21488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B11"/>
                </a:solidFill>
                <a:latin typeface="Calibri"/>
              </a:rPr>
              <a:t>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26517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B11"/>
                </a:solidFill>
                <a:latin typeface="Calibri"/>
              </a:rPr>
              <a:t>Cash Flow Instability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3063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Irregular inflows create repayment risk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3630168"/>
            <a:ext cx="1097280" cy="2560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6B7A6B"/>
                </a:solidFill>
                <a:latin typeface="Calibri"/>
              </a:rPr>
              <a:t>Financial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3630168"/>
            <a:ext cx="1188720" cy="25603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DC2626"/>
                </a:solidFill>
                <a:latin typeface="Calibri"/>
              </a:rPr>
              <a:t>HIGH RISK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06240"/>
            <a:ext cx="3657600" cy="201168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206240"/>
            <a:ext cx="164592" cy="2011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3891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B11"/>
                </a:solidFill>
                <a:latin typeface="Calibri"/>
              </a:rPr>
              <a:t>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8920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B11"/>
                </a:solidFill>
                <a:latin typeface="Calibri"/>
              </a:rPr>
              <a:t>Rising Expenses vs Income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30352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Expense growth outpacing revenue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870448"/>
            <a:ext cx="1097280" cy="2560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6B7A6B"/>
                </a:solidFill>
                <a:latin typeface="Calibri"/>
              </a:rPr>
              <a:t>Financial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20" y="5870448"/>
            <a:ext cx="1188720" cy="25603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DC2626"/>
                </a:solidFill>
                <a:latin typeface="Calibri"/>
              </a:rPr>
              <a:t>HIGH RISK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0" y="4206240"/>
            <a:ext cx="3657600" cy="201168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51960" y="4206240"/>
            <a:ext cx="16459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43891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B11"/>
                </a:solidFill>
                <a:latin typeface="Calibri"/>
              </a:rPr>
              <a:t>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4568" y="48920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B11"/>
                </a:solidFill>
                <a:latin typeface="Calibri"/>
              </a:rPr>
              <a:t>GST Filing Irregularity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4568" y="530352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Delayed returns signal revenue volatility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44568" y="5870448"/>
            <a:ext cx="1097280" cy="2560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6B7A6B"/>
                </a:solidFill>
                <a:latin typeface="Calibri"/>
              </a:rPr>
              <a:t>Contextual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5870448"/>
            <a:ext cx="1188720" cy="256032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59E0B"/>
                </a:solidFill>
                <a:latin typeface="Calibri"/>
              </a:rPr>
              <a:t>MONITOR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4206240"/>
            <a:ext cx="3657600" cy="201168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4206240"/>
            <a:ext cx="164592" cy="2011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0768" y="43891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11B11"/>
                </a:solidFill>
                <a:latin typeface="Calibri"/>
              </a:rPr>
              <a:t>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0768" y="48920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B11"/>
                </a:solidFill>
                <a:latin typeface="Calibri"/>
              </a:rPr>
              <a:t>Cascade Risk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0768" y="530352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One event triggers multiple downstream risks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30768" y="5870448"/>
            <a:ext cx="1097280" cy="2560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6B7A6B"/>
                </a:solidFill>
                <a:latin typeface="Calibri"/>
              </a:rPr>
              <a:t>Butterfly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46920" y="5870448"/>
            <a:ext cx="1188720" cy="256032"/>
          </a:xfrm>
          <a:prstGeom prst="rect">
            <a:avLst/>
          </a:prstGeom>
          <a:solidFill>
            <a:srgbClr val="FF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DC2626"/>
                </a:solidFill>
                <a:latin typeface="Calibri"/>
              </a:rPr>
              <a:t>HIGH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Calibri"/>
              </a:rPr>
              <a:t>EXPLAINABLE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Every Score is Explainable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4754880" cy="4846320"/>
          </a:xfrm>
          <a:prstGeom prst="rect">
            <a:avLst/>
          </a:prstGeom>
          <a:solidFill>
            <a:srgbClr val="1A2E1A"/>
          </a:solidFill>
          <a:ln w="9525">
            <a:solidFill>
              <a:srgbClr val="224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A6B"/>
                </a:solidFill>
                <a:latin typeface="Calibri"/>
              </a:rPr>
              <a:t>LOAN HEALTH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6A34A"/>
                </a:solidFill>
                <a:latin typeface="Calibri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633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6B"/>
                </a:solidFill>
                <a:latin typeface="Calibri"/>
              </a:rPr>
              <a:t>/ 100  ·  Grade B+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246120"/>
            <a:ext cx="4206240" cy="256032"/>
          </a:xfrm>
          <a:prstGeom prst="rect">
            <a:avLst/>
          </a:prstGeom>
          <a:solidFill>
            <a:srgbClr val="0F1D0F"/>
          </a:solidFill>
          <a:ln w="6350">
            <a:solidFill>
              <a:srgbClr val="224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246120"/>
            <a:ext cx="3026664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Proceed with caution — monitor monthly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148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F7D0"/>
                </a:solidFill>
                <a:latin typeface="Calibri"/>
              </a:rPr>
              <a:t>💳 Repayment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4187952"/>
            <a:ext cx="1691640" cy="182880"/>
          </a:xfrm>
          <a:prstGeom prst="rect">
            <a:avLst/>
          </a:prstGeom>
          <a:solidFill>
            <a:srgbClr val="0F1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4187952"/>
            <a:ext cx="1150315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41148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563EB"/>
                </a:solidFill>
                <a:latin typeface="Calibri"/>
              </a:rPr>
              <a:t>68%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6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F7D0"/>
                </a:solidFill>
                <a:latin typeface="Calibri"/>
              </a:rPr>
              <a:t>🏦 Financial Impact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4599432"/>
            <a:ext cx="1691640" cy="182880"/>
          </a:xfrm>
          <a:prstGeom prst="rect">
            <a:avLst/>
          </a:prstGeom>
          <a:solidFill>
            <a:srgbClr val="0F1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17520" y="4599432"/>
            <a:ext cx="761238" cy="182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452628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A34A"/>
                </a:solidFill>
                <a:latin typeface="Calibri"/>
              </a:rPr>
              <a:t>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377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F7D0"/>
                </a:solidFill>
                <a:latin typeface="Calibri"/>
              </a:rPr>
              <a:t>📊 Behavioural Impact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5010912"/>
            <a:ext cx="1691640" cy="182880"/>
          </a:xfrm>
          <a:prstGeom prst="rect">
            <a:avLst/>
          </a:prstGeom>
          <a:solidFill>
            <a:srgbClr val="0F1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7520" y="5010912"/>
            <a:ext cx="1353312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93776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  <a:latin typeface="Calibri"/>
              </a:rPr>
              <a:t>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49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F7D0"/>
                </a:solidFill>
                <a:latin typeface="Calibri"/>
              </a:rPr>
              <a:t>🌐 Contextual Impact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5422392"/>
            <a:ext cx="1691640" cy="182880"/>
          </a:xfrm>
          <a:prstGeom prst="rect">
            <a:avLst/>
          </a:prstGeom>
          <a:solidFill>
            <a:srgbClr val="0F1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17520" y="5422392"/>
            <a:ext cx="507492" cy="182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534924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A580C"/>
                </a:solidFill>
                <a:latin typeface="Calibri"/>
              </a:rPr>
              <a:t>30%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23560" y="1600200"/>
            <a:ext cx="6263640" cy="4846320"/>
          </a:xfrm>
          <a:prstGeom prst="rect">
            <a:avLst/>
          </a:prstGeom>
          <a:solidFill>
            <a:srgbClr val="1A2E1A"/>
          </a:solidFill>
          <a:ln w="9525">
            <a:solidFill>
              <a:srgbClr val="224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6440" y="17830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A6B"/>
                </a:solidFill>
                <a:latin typeface="Calibri"/>
              </a:rPr>
              <a:t>HOW AI REACHED THIS SCORE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2651760"/>
            <a:ext cx="25400" cy="621792"/>
          </a:xfrm>
          <a:prstGeom prst="rect">
            <a:avLst/>
          </a:prstGeom>
          <a:solidFill>
            <a:srgbClr val="224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9320" y="2286000"/>
            <a:ext cx="384048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2286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11B11"/>
                </a:solidFill>
                <a:latin typeface="Calibri"/>
              </a:rPr>
              <a:t>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2402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Calibri"/>
              </a:rPr>
              <a:t>Pattern Detected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Partial Payment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611880"/>
            <a:ext cx="25400" cy="621792"/>
          </a:xfrm>
          <a:prstGeom prst="rect">
            <a:avLst/>
          </a:prstGeom>
          <a:solidFill>
            <a:srgbClr val="224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9320" y="3246120"/>
            <a:ext cx="384048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32461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11B11"/>
                </a:solidFill>
                <a:latin typeface="Calibri"/>
              </a:rPr>
              <a:t>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200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  <a:latin typeface="Calibri"/>
              </a:rPr>
              <a:t>AI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GST + Cash Flow cross-check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4572000"/>
            <a:ext cx="25400" cy="621792"/>
          </a:xfrm>
          <a:prstGeom prst="rect">
            <a:avLst/>
          </a:prstGeom>
          <a:solidFill>
            <a:srgbClr val="224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89320" y="4206240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89320" y="42062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11B11"/>
                </a:solidFill>
                <a:latin typeface="Calibri"/>
              </a:rPr>
              <a:t>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1605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Risk Impact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Liquidity stress detected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89320" y="5166360"/>
            <a:ext cx="384048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9320" y="5166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11B11"/>
                </a:solidFill>
                <a:latin typeface="Calibri"/>
              </a:rPr>
              <a:t>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1206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  <a:latin typeface="Calibri"/>
              </a:rPr>
              <a:t>Score Change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349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-8 Score 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11B11"/>
                </a:solidFill>
                <a:latin typeface="Calibri"/>
              </a:rPr>
              <a:t>Demo Walkthrough — 5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12700"/>
          </a:xfrm>
          <a:prstGeom prst="rect">
            <a:avLst/>
          </a:prstGeom>
          <a:solidFill>
            <a:srgbClr val="E3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2167128"/>
            <a:ext cx="25400" cy="502920"/>
          </a:xfrm>
          <a:prstGeom prst="rect">
            <a:avLst/>
          </a:prstGeom>
          <a:solidFill>
            <a:srgbClr val="E3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59436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6002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B11"/>
                </a:solidFill>
                <a:latin typeface="Calibri"/>
              </a:rPr>
              <a:t>Open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94767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Portfolio overview with 4 KPI cards.
Healthy loans, at-risk count, avg trust score.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136392"/>
            <a:ext cx="25400" cy="502920"/>
          </a:xfrm>
          <a:prstGeom prst="rect">
            <a:avLst/>
          </a:prstGeom>
          <a:solidFill>
            <a:srgbClr val="E3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615184"/>
            <a:ext cx="59436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15184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5694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B11"/>
                </a:solidFill>
                <a:latin typeface="Calibri"/>
              </a:rPr>
              <a:t>Run Partner Health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91693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Click 'Run Health Check' on any channel partner.
Watch the AI pipeline run in real-time.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4105656"/>
            <a:ext cx="25400" cy="502920"/>
          </a:xfrm>
          <a:prstGeom prst="rect">
            <a:avLst/>
          </a:prstGeom>
          <a:solidFill>
            <a:srgbClr val="E3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584448"/>
            <a:ext cx="59436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5844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35387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B11"/>
                </a:solidFill>
                <a:latin typeface="Calibri"/>
              </a:rPr>
              <a:t>View Trust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3886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Score + Grade + Risk Level rendered instantly.
Business verdict: Safe / Caution / Critical.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5074920"/>
            <a:ext cx="25400" cy="502920"/>
          </a:xfrm>
          <a:prstGeom prst="rect">
            <a:avLst/>
          </a:prstGeom>
          <a:solidFill>
            <a:srgbClr val="E3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553712"/>
            <a:ext cx="594360" cy="594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5537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450799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B11"/>
                </a:solidFill>
                <a:latin typeface="Calibri"/>
              </a:rPr>
              <a:t>Explore AI Journey Tab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85546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Step-by-step: Pattern → Analysis → Impact → Score.
Click nodes to expand reasoning.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522976"/>
            <a:ext cx="59436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52297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547725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B11"/>
                </a:solidFill>
                <a:latin typeface="Calibri"/>
              </a:rPr>
              <a:t>Cascade Effects Tab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58247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Visual chain: Trigger → Impact → Outcome.
See how one event creates portfolio risk.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1600200"/>
            <a:ext cx="5212080" cy="489204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1783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💡 Explain Simply — Toggle 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22402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Toggle between technical and plain-language explanations in real time: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2743200"/>
            <a:ext cx="4572000" cy="1051560"/>
          </a:xfrm>
          <a:prstGeom prst="rect">
            <a:avLst/>
          </a:prstGeom>
          <a:solidFill>
            <a:srgbClr val="FFF1F1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27889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  <a:latin typeface="Calibri"/>
              </a:rPr>
              <a:t>❌  Technical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081528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11B11"/>
                </a:solidFill>
                <a:latin typeface="Calibri"/>
              </a:rPr>
              <a:t>"Liquidity stress due to multi-loan overlap
and declining DSR ratio"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03720" y="3931920"/>
            <a:ext cx="4572000" cy="1234440"/>
          </a:xfrm>
          <a:prstGeom prst="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86600" y="3977639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Calibri"/>
              </a:rPr>
              <a:t>✅  Simple Mode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27024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B11"/>
                </a:solidFill>
                <a:latin typeface="Calibri"/>
              </a:rPr>
              <a:t>"Too many loans at once →
Less money left to repay →
Score: -8 points"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257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A6B"/>
                </a:solidFill>
                <a:latin typeface="Calibri"/>
              </a:rPr>
              <a:t>Designed for both technical reviewers and business decision-makers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11B11"/>
                </a:solidFill>
                <a:latin typeface="Calibri"/>
              </a:rPr>
              <a:t>Why Now? Why CreditLens?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1672" cy="12700"/>
          </a:xfrm>
          <a:prstGeom prst="rect">
            <a:avLst/>
          </a:prstGeom>
          <a:solidFill>
            <a:srgbClr val="E3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3566160" cy="182880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64592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C3AED"/>
                </a:solidFill>
                <a:latin typeface="Calibri"/>
              </a:rPr>
              <a:t>₹37T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68880"/>
            <a:ext cx="731520" cy="2560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7C3AED"/>
                </a:solidFill>
                <a:latin typeface="Calibri"/>
              </a:rP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India MSME formal credit market by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3566160" cy="182880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00200"/>
            <a:ext cx="164592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7373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C2626"/>
                </a:solidFill>
                <a:latin typeface="Calibri"/>
              </a:rPr>
              <a:t>₹2.4T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2468880"/>
            <a:ext cx="731520" cy="2560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DC2626"/>
                </a:solidFill>
                <a:latin typeface="Calibri"/>
              </a:rP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788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Annual unmet MSME credit demand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600200"/>
            <a:ext cx="3566160" cy="182880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1600200"/>
            <a:ext cx="164592" cy="1828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7373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A580C"/>
                </a:solidFill>
                <a:latin typeface="Calibri"/>
              </a:rPr>
              <a:t>6.3Cr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2468880"/>
            <a:ext cx="731520" cy="2560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EA580C"/>
                </a:solidFill>
                <a:latin typeface="Calibri"/>
              </a:rPr>
              <a:t>MSMEs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788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Formal MSMEs that need credit but lack bureau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611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B11"/>
                </a:solidFill>
                <a:latin typeface="Calibri"/>
              </a:rPr>
              <a:t>What CreditLens delivers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69080"/>
            <a:ext cx="3657600" cy="105156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069080"/>
            <a:ext cx="137160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4223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6A34A"/>
                </a:solidFill>
                <a:latin typeface="Calibri"/>
              </a:rPr>
              <a:t>5 sec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3600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Full AI score vs 48-hr manual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069080"/>
            <a:ext cx="3657600" cy="105156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4069080"/>
            <a:ext cx="13716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14223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  <a:latin typeface="Calibri"/>
              </a:rPr>
              <a:t>35+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63600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Risk workflows running simultaneously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4069080"/>
            <a:ext cx="3657600" cy="105156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20" y="4069080"/>
            <a:ext cx="137160" cy="1051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414223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A580C"/>
                </a:solidFill>
                <a:latin typeface="Calibri"/>
              </a:rPr>
              <a:t>Zero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63600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Bureau/CIBIL dependency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303520"/>
            <a:ext cx="3657600" cy="105156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303520"/>
            <a:ext cx="137160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37667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C2626"/>
                </a:solidFill>
                <a:latin typeface="Calibri"/>
              </a:rPr>
              <a:t>3×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87044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Earlier default detection vs traditional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5303520"/>
            <a:ext cx="3657600" cy="105156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0" y="5303520"/>
            <a:ext cx="137160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537667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  <a:latin typeface="Calibri"/>
              </a:rPr>
              <a:t>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587044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Decision explainability for every score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20" y="5303520"/>
            <a:ext cx="3657600" cy="1051560"/>
          </a:xfrm>
          <a:prstGeom prst="rect">
            <a:avLst/>
          </a:prstGeom>
          <a:solidFill>
            <a:srgbClr val="F8FAF8"/>
          </a:solidFill>
          <a:ln w="9525">
            <a:solidFill>
              <a:srgbClr val="E3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75320" y="5303520"/>
            <a:ext cx="137160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9640" y="537667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Calibri"/>
              </a:rPr>
              <a:t>₹50L+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7044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6B"/>
                </a:solidFill>
                <a:latin typeface="Calibri"/>
              </a:rPr>
              <a:t>Avg exposure protected per flagged partner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Calibr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What's Under the Hood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1155680" cy="868680"/>
          </a:xfrm>
          <a:prstGeom prst="rect">
            <a:avLst/>
          </a:prstGeom>
          <a:solidFill>
            <a:srgbClr val="1A2E1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16459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733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733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Vanilla JS · No framework · Live updates · Responsive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756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6B"/>
                </a:solidFill>
                <a:latin typeface="Calibri"/>
              </a:rPr>
              <a:t>Zero-dependency UI for maximum speed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0" y="1874520"/>
            <a:ext cx="91440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9464"/>
            <a:ext cx="11155680" cy="868680"/>
          </a:xfrm>
          <a:prstGeom prst="rect">
            <a:avLst/>
          </a:prstGeom>
          <a:solidFill>
            <a:srgbClr val="1A2E1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69464"/>
            <a:ext cx="164592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4261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Risk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64261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35+ modular workflow rules · Category-based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0449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6B"/>
                </a:solidFill>
                <a:latin typeface="Calibri"/>
              </a:rPr>
              <a:t>Repayment · Financial · Behavioral · Contextual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0" y="2843784"/>
            <a:ext cx="91440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38728"/>
            <a:ext cx="11155680" cy="868680"/>
          </a:xfrm>
          <a:prstGeom prst="rect">
            <a:avLst/>
          </a:prstGeom>
          <a:solidFill>
            <a:srgbClr val="1A2E1A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38728"/>
            <a:ext cx="164592" cy="868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118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Calibri"/>
              </a:rPr>
              <a:t>Butterfly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6118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Cascade chain builder · Trigger-Impact-Outcome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0142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6B"/>
                </a:solidFill>
                <a:latin typeface="Calibri"/>
              </a:rPr>
              <a:t>Detects multi-step default risk propagation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0" y="3813048"/>
            <a:ext cx="91440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07992"/>
            <a:ext cx="11155680" cy="868680"/>
          </a:xfrm>
          <a:prstGeom prst="rect">
            <a:avLst/>
          </a:prstGeom>
          <a:solidFill>
            <a:srgbClr val="1A2E1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507992"/>
            <a:ext cx="16459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5811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Pattern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58114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Real-time signal classification · 10 pattern types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983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6B"/>
                </a:solidFill>
                <a:latin typeface="Calibri"/>
              </a:rPr>
              <a:t>Derived from transactional + GST + repayment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0" y="4782312"/>
            <a:ext cx="91440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477256"/>
            <a:ext cx="11155680" cy="868680"/>
          </a:xfrm>
          <a:prstGeom prst="rect">
            <a:avLst/>
          </a:prstGeom>
          <a:solidFill>
            <a:srgbClr val="1A2E1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477256"/>
            <a:ext cx="16459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5040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Data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5504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Digitap bank signals · GST revenue API · Repayment history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9527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6B"/>
                </a:solidFill>
                <a:latin typeface="Calibri"/>
              </a:rPr>
              <a:t>No CIBIL / bureau call — pure alternative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0" y="5751576"/>
            <a:ext cx="91440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6629400"/>
            <a:ext cx="11960352" cy="228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  <a:latin typeface="Calibri"/>
              </a:rPr>
              <a:t>CreditLens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743200"/>
            <a:ext cx="3959352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BF7D0"/>
                </a:solidFill>
                <a:latin typeface="Calibri"/>
              </a:rPr>
              <a:t>Credit Intelligence for the Thin File Economy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703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11B11"/>
                </a:solidFill>
                <a:latin typeface="Calibri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3749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  <a:latin typeface="Calibri"/>
              </a:rPr>
              <a:t>Zero bureau dependency · works on pure transactional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3434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11B11"/>
                </a:solidFill>
                <a:latin typeface="Calibri"/>
              </a:rPr>
              <a:t>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  <a:latin typeface="Calibri"/>
              </a:rPr>
              <a:t>Butterfly effect engine catches cascades before they become defaults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98347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11B11"/>
                </a:solidFill>
                <a:latin typeface="Calibri"/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502919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  <a:latin typeface="Calibri"/>
              </a:rPr>
              <a:t>Every score explained — in technical or plain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A34A"/>
                </a:solidFill>
                <a:latin typeface="Calibri"/>
              </a:rPr>
              <a:t>Thank you  ·  Let's demo it live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